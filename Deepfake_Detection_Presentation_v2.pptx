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61" r:id="rId3"/>
    <p:sldId id="263" r:id="rId4"/>
    <p:sldId id="264" r:id="rId5"/>
    <p:sldId id="258" r:id="rId6"/>
    <p:sldId id="266" r:id="rId7"/>
    <p:sldId id="265" r:id="rId8"/>
    <p:sldId id="267" r:id="rId9"/>
    <p:sldId id="268" r:id="rId10"/>
    <p:sldId id="269" r:id="rId11"/>
    <p:sldId id="260" r:id="rId12"/>
    <p:sldId id="262" r:id="rId13"/>
    <p:sldId id="271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463"/>
    <p:restoredTop sz="94668"/>
  </p:normalViewPr>
  <p:slideViewPr>
    <p:cSldViewPr snapToGrid="0">
      <p:cViewPr varScale="1">
        <p:scale>
          <a:sx n="100" d="100"/>
          <a:sy n="100" d="100"/>
        </p:scale>
        <p:origin x="568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FB6085-AEDD-3344-893D-BA1FE6BA0641}" type="datetimeFigureOut">
              <a:rPr lang="en-US" smtClean="0"/>
              <a:t>4/3/26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238A1D-4AEB-BF43-B997-B3FD3F047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5860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C7020-AD8E-9CCE-7394-821E9306DD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755FE9-03B2-B2E2-78D4-CE0F45A638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39AE65-32C4-0260-E54E-237ED1B1E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D7C85-1C09-F54D-916D-0F7109FC05F7}" type="datetime1">
              <a:rPr lang="en-IN" smtClean="0"/>
              <a:t>03/04/26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429353-2362-EBC4-73DF-2B2C3A341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Capstone Project Review-2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AF98E8-14DA-6049-EB3C-438561C19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79081-F721-B847-95FC-E24084F71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7573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11991-43D3-555B-57F3-485CD6C5C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57DEBD-D381-F13B-A080-8546F3E503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601A20-8053-F063-3478-1FEFA2DF8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B72DE-8F94-E74A-8C9B-614FDE8EF639}" type="datetime1">
              <a:rPr lang="en-IN" smtClean="0"/>
              <a:t>03/04/26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8E2C82-2B18-271F-C0BC-06136D93E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Capstone Project Review-2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219153-2BF4-05F5-B114-C4903F2C7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79081-F721-B847-95FC-E24084F71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5668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BF4A1-6887-ADC2-42C3-815BFA129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DD1101-C438-80C4-25AB-8AAE2DD7FF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F01313-2AB9-01BB-1D68-C90A21FB0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ED325-927D-8745-B647-620949FB482D}" type="datetime1">
              <a:rPr lang="en-IN" smtClean="0"/>
              <a:t>03/04/26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25C79-442B-F2A3-9750-80D5F864D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Capstone Project Review-2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42035C-C313-E6C7-CA6A-76541B63D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79081-F721-B847-95FC-E24084F71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486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A7DF4-AC71-F2CC-1A30-055B28D31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23F772-501E-4E6F-A19E-3FB13C4C8F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178E13-D425-3D7B-9D00-04078F2E2C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4DA2A7-FF93-2283-49CA-185370589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61C16-C26F-D646-A394-734F9E480BC8}" type="datetime1">
              <a:rPr lang="en-IN" smtClean="0"/>
              <a:t>03/04/26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2B6EBD-C8D6-FFCE-C547-D21A5F5D6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Capstone Project Review-2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BD62AA-7000-C335-E779-289CF8616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79081-F721-B847-95FC-E24084F71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3449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056BE-EC76-8706-E134-A621243C7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7CC8FD-3E17-2421-9C64-F6D98371DD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782C26-ACF2-060A-EA93-E1F43B6F8E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13AB65-4644-98B4-90DC-340C428ECC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9DDF54-CA19-4D9B-92B1-00487B2FFB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A5C85B-51CA-5619-7722-5B97ACD93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DA224-A675-C048-B421-493AE6E9C9D0}" type="datetime1">
              <a:rPr lang="en-IN" smtClean="0"/>
              <a:t>03/04/26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ED0410-67D6-6554-9841-89077B09F6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Capstone Project Review-2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193755-32D5-1053-C3C4-1DE02580C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79081-F721-B847-95FC-E24084F71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2831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5099B-4C08-01D9-9A35-2CFFD0565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1A4B4E-DC8B-4AF3-B2DF-3E46C2C20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BBD9D-9B36-2A4C-958F-553AB794C064}" type="datetime1">
              <a:rPr lang="en-IN" smtClean="0"/>
              <a:t>03/04/26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654744-E044-A957-5D96-B006BD422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Capstone Project Review-2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73B9B0-BFDC-0BA1-5C70-3C5B590D1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79081-F721-B847-95FC-E24084F71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6263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2F5FCC-EC96-EC22-CF9D-E84DBE1D4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E2B02-BA4B-504E-AB2E-44F9DC4A7B0D}" type="datetime1">
              <a:rPr lang="en-IN" smtClean="0"/>
              <a:t>03/04/26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EF752A-1EFC-3941-C1EC-67736C63F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Capstone Project Review-2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59B89A-2E3A-C1FD-C588-396EE0A43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79081-F721-B847-95FC-E24084F71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4387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599DE-F0D0-FA96-EF66-5BEF2C2FD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FB3F4D-F86E-CEEC-D4C3-AFE57C3173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B1755E-13D5-07E2-6E19-5EB86A6C8D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EA4B78-60BB-774F-FE44-D2775872A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36BD3-806F-A84E-B2E8-86897622C4C8}" type="datetime1">
              <a:rPr lang="en-IN" smtClean="0"/>
              <a:t>03/04/26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BD3279-EE64-1E30-7205-EED0A5E85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Capstone Project Review-2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BAEE61-5E3C-D5FE-B683-713F47D65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79081-F721-B847-95FC-E24084F71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123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1007A-1BC9-AE73-624A-0BD45DD53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A3B833-F334-9D3D-B439-80F1205F07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09127B-C6F6-46E7-8C16-2DBD5A61ED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0AD1B3-F446-9FE6-3DE8-101521EF2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B00B3-D70C-D54D-BA5F-EF9BACAE2EE9}" type="datetime1">
              <a:rPr lang="en-IN" smtClean="0"/>
              <a:t>03/04/26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6BD3F4-DC94-E9CC-F9B2-DD435DF71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Capstone Project Review-2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C0BD25-BF3A-0DB6-1807-CAAB5136E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79081-F721-B847-95FC-E24084F71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5274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F4DC8-8901-6095-30BB-2AD859B73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526456-A183-96E2-EBCF-C71ED9E82A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56E9EE-56F7-EBBF-8671-F1722E7E0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CD9CC-3111-F649-95B0-E021A9924F0E}" type="datetime1">
              <a:rPr lang="en-IN" smtClean="0"/>
              <a:t>03/04/26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AE3ECF-2B7D-276B-A38F-311987791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Capstone Project Review-2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594BEB-F967-1E75-98B9-9801AACA5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79081-F721-B847-95FC-E24084F71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225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5AF1BF-7DC9-E9E4-7F5F-1DC43A544B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A40102-7641-C359-77B4-22BE7EA0CF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74F341-E435-3BAB-B891-4696E68B5B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2D04D-CF51-D941-83B5-E25C426B58A0}" type="datetime1">
              <a:rPr lang="en-IN" smtClean="0"/>
              <a:t>03/04/26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B37D19-479D-1ADF-2B7B-8DFD5FB5D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Capstone Project Review-2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FEF8CA-1B93-37CC-4BF5-90B9B4047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79081-F721-B847-95FC-E24084F71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77466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67B788-0809-3E21-033D-80A455074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7508E5-4E56-CDEA-E8C6-FD8077AC16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A9E8DF-5A20-9B97-DB4D-22F1548E08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B061DE-207F-FA4D-A110-52DC26AC63F6}" type="datetime1">
              <a:rPr lang="en-IN" smtClean="0"/>
              <a:t>03/04/26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83BC58-E551-903A-C21F-4F122EF286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Capstone Project Review-2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47F461-3107-BFA8-4E52-D015938020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E79081-F721-B847-95FC-E24084F71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313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e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e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e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e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e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C8EA1-2FA2-0F7D-1705-FA3536F4FE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3500" y="2794931"/>
            <a:ext cx="9334500" cy="1777069"/>
          </a:xfrm>
        </p:spPr>
        <p:txBody>
          <a:bodyPr anchor="ctr">
            <a:normAutofit fontScale="90000"/>
          </a:bodyPr>
          <a:lstStyle/>
          <a:p>
            <a:r>
              <a:t>Deepfake Detection System</a:t>
            </a:r>
          </a:p>
          <a:p>
            <a:r>
              <a:t>A Robust Framework for Identifying Manipulated Media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4B1947-3E01-98E6-3AB6-E0C6374F00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805002"/>
            <a:ext cx="9144000" cy="1655762"/>
          </a:xfrm>
        </p:spPr>
        <p:txBody>
          <a:bodyPr/>
          <a:lstStyle/>
          <a:p>
            <a:r>
              <a:t>Group Members and Register Numbers:</a:t>
            </a:r>
          </a:p>
          <a:p>
            <a:r>
              <a:t>- Prathmesh1, 22BTAI204</a:t>
            </a:r>
          </a:p>
          <a:p>
            <a:r>
              <a:t>- Preethi D patel, 22BTAI197</a:t>
            </a: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23907498-6BC8-C4A3-7F76-84D5DF34B7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8517" y="228600"/>
            <a:ext cx="4973984" cy="778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object 7">
            <a:extLst>
              <a:ext uri="{FF2B5EF4-FFF2-40B4-BE49-F238E27FC236}">
                <a16:creationId xmlns:a16="http://schemas.microsoft.com/office/drawing/2014/main" id="{D3D69B98-38C1-A6E7-3172-9F304B1F0209}"/>
              </a:ext>
            </a:extLst>
          </p:cNvPr>
          <p:cNvPicPr>
            <a:picLocks/>
          </p:cNvPicPr>
          <p:nvPr/>
        </p:nvPicPr>
        <p:blipFill>
          <a:blip r:embed="rId3" cstate="print"/>
          <a:srcRect l="13056" r="6414"/>
          <a:stretch>
            <a:fillRect/>
          </a:stretch>
        </p:blipFill>
        <p:spPr>
          <a:xfrm>
            <a:off x="2578100" y="1214767"/>
            <a:ext cx="7518400" cy="972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3401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6B6EE-D683-66EF-91E0-293A38ACD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0DC93-E456-9D0E-CE65-D11B00C71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700" y="73025"/>
            <a:ext cx="11010900" cy="714375"/>
          </a:xfrm>
        </p:spPr>
        <p:txBody>
          <a:bodyPr>
            <a:normAutofit/>
          </a:bodyPr>
          <a:lstStyle/>
          <a:p>
            <a: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420164-5F7F-8478-DAA9-099904BDFD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700" y="1127124"/>
            <a:ext cx="11861800" cy="5019675"/>
          </a:xfrm>
        </p:spPr>
        <p:txBody>
          <a:bodyPr/>
          <a:lstStyle/>
          <a:p>
            <a:r>
              <a:t>Domain: Cyber Security &amp; Medical Imaging Technologies (Analogous)</a:t>
            </a:r>
          </a:p>
          <a:p/>
          <a:p>
            <a:r>
              <a:t>Problem Statement:</a:t>
            </a:r>
          </a:p>
          <a:p>
            <a:r>
              <a:t>The rapid and unregulated advancement of Synthetic Media Generation (SMG) has enabled the creation of hyper-realistic "deepfakes". These manipulatons pose severe threats to digital trust, security, and identity, while traditional forensic methods struggle to detect novel forgery techniques.</a:t>
            </a:r>
          </a:p>
          <a:p/>
          <a:p>
            <a:r>
              <a:t>Our Contributions:</a:t>
            </a:r>
          </a:p>
          <a:p>
            <a:r>
              <a:t>1. We leverage advanced CNN and Transformer-based models explicitly trained on the FaceForensics++ and SMG datasets.</a:t>
            </a:r>
          </a:p>
          <a:p>
            <a:r>
              <a:t>2. Improved accuracy in spatial blending artifact detection (97.4%).</a:t>
            </a:r>
          </a:p>
          <a:p>
            <a:r>
              <a:t>3. Deployment of a real-time detection pipeline for media verification.</a:t>
            </a:r>
          </a:p>
        </p:txBody>
      </p:sp>
      <p:pic>
        <p:nvPicPr>
          <p:cNvPr id="4" name="Picture 2" descr="Home">
            <a:extLst>
              <a:ext uri="{FF2B5EF4-FFF2-40B4-BE49-F238E27FC236}">
                <a16:creationId xmlns:a16="http://schemas.microsoft.com/office/drawing/2014/main" id="{45C08E6F-D79A-EC0D-0F62-BEFE752AC9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82506" y="25400"/>
            <a:ext cx="831388" cy="835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C3A840-2EB9-3846-B40F-EC0181374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Capstone Project Review-2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830AC5-43CE-C282-6959-9B398F7A0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79081-F721-B847-95FC-E24084F7168A}" type="slidenum">
              <a:rPr lang="en-US" smtClean="0"/>
              <a:t>2</a:t>
            </a:fld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F72966-D954-2910-587F-5B28594E0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5D10E-66C4-B847-B9D4-144D0E39AC2A}" type="datetime1">
              <a:rPr lang="en-IN" smtClean="0"/>
              <a:t>03/04/26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0229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BD26B-E518-B119-5368-08834058A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FFD6B-CA5B-580D-E5CD-412A6C095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700" y="73025"/>
            <a:ext cx="11010900" cy="714375"/>
          </a:xfrm>
        </p:spPr>
        <p:txBody>
          <a:bodyPr>
            <a:normAutofit/>
          </a:bodyPr>
          <a:lstStyle/>
          <a:p>
            <a:r>
              <a:t>Literature Survey (Overview)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89CB-CDED-6E62-11D2-5A1F39B0ED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700" y="1127124"/>
            <a:ext cx="11861800" cy="5019675"/>
          </a:xfrm>
        </p:spPr>
        <p:txBody>
          <a:bodyPr/>
          <a:lstStyle/>
          <a:p>
            <a:r>
              <a:t>1. Rössler et al. (2019) - "FaceForensics++: Learning to Detect Manipulated Facial Images"</a:t>
            </a:r>
          </a:p>
          <a:p>
            <a:r>
              <a:t>2. Li &amp; Lyu (2018) - "Exposing Deepfake Videos by Detecting Face Warping Artifacts"</a:t>
            </a:r>
          </a:p>
          <a:p>
            <a:r>
              <a:t>3. Verdoliva (2020) - "Media Forensics and Deepfakes: An Overview"</a:t>
            </a:r>
          </a:p>
          <a:p>
            <a:r>
              <a:t>4. Nguyen et al. (2019) - "Multi-Task Learning for Fake Face Detection"</a:t>
            </a:r>
          </a:p>
          <a:p>
            <a:r>
              <a:t>5. Afchar et al. (2018) - "MesoNet: A Compact Facial Video Forgery Detection Network"</a:t>
            </a:r>
          </a:p>
          <a:p>
            <a:r>
              <a:t>6. Güera &amp; Delp (2018) - "Deepfake Video Detection using Recurrent Neural Networks"</a:t>
            </a:r>
          </a:p>
          <a:p>
            <a:r>
              <a:t>7. Tolosana et al. (2020) - "DeepFakes and Beyond: A Survey of Face Manipulation"</a:t>
            </a:r>
          </a:p>
          <a:p>
            <a:r>
              <a:t>8. Masi et al. (2020) - "Two-branch Recurrent Network for Isolating Deepfakes"</a:t>
            </a:r>
          </a:p>
        </p:txBody>
      </p:sp>
      <p:pic>
        <p:nvPicPr>
          <p:cNvPr id="4" name="Picture 2" descr="Home">
            <a:extLst>
              <a:ext uri="{FF2B5EF4-FFF2-40B4-BE49-F238E27FC236}">
                <a16:creationId xmlns:a16="http://schemas.microsoft.com/office/drawing/2014/main" id="{3172E111-BB8C-CAFA-D22A-320C6E8D11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82506" y="25400"/>
            <a:ext cx="831388" cy="835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4814A8-C06B-57EB-27B5-AB9144990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Capstone Project Review-2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EB6215-A473-0754-138E-3A1DDABD5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79081-F721-B847-95FC-E24084F7168A}" type="slidenum">
              <a:rPr lang="en-US" smtClean="0"/>
              <a:t>3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98B3F56-B4A9-9DE7-42A7-2D11A43481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3370232"/>
              </p:ext>
            </p:extLst>
          </p:nvPr>
        </p:nvGraphicFramePr>
        <p:xfrm>
          <a:off x="606156" y="2415539"/>
          <a:ext cx="10676350" cy="371556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49586">
                  <a:extLst>
                    <a:ext uri="{9D8B030D-6E8A-4147-A177-3AD203B41FA5}">
                      <a16:colId xmlns:a16="http://schemas.microsoft.com/office/drawing/2014/main" val="1917311705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339296727"/>
                    </a:ext>
                  </a:extLst>
                </a:gridCol>
                <a:gridCol w="1642821">
                  <a:extLst>
                    <a:ext uri="{9D8B030D-6E8A-4147-A177-3AD203B41FA5}">
                      <a16:colId xmlns:a16="http://schemas.microsoft.com/office/drawing/2014/main" val="773220525"/>
                    </a:ext>
                  </a:extLst>
                </a:gridCol>
                <a:gridCol w="2882684">
                  <a:extLst>
                    <a:ext uri="{9D8B030D-6E8A-4147-A177-3AD203B41FA5}">
                      <a16:colId xmlns:a16="http://schemas.microsoft.com/office/drawing/2014/main" val="3197736452"/>
                    </a:ext>
                  </a:extLst>
                </a:gridCol>
                <a:gridCol w="2572459">
                  <a:extLst>
                    <a:ext uri="{9D8B030D-6E8A-4147-A177-3AD203B41FA5}">
                      <a16:colId xmlns:a16="http://schemas.microsoft.com/office/drawing/2014/main" val="609351309"/>
                    </a:ext>
                  </a:extLst>
                </a:gridCol>
              </a:tblGrid>
              <a:tr h="963092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 of the Paper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Journal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 of Publication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 of the 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 / Research Gap identified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7525312"/>
                  </a:ext>
                </a:extLst>
              </a:tr>
              <a:tr h="550494"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857817"/>
                  </a:ext>
                </a:extLst>
              </a:tr>
              <a:tr h="550494"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9704103"/>
                  </a:ext>
                </a:extLst>
              </a:tr>
              <a:tr h="550494"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5298143"/>
                  </a:ext>
                </a:extLst>
              </a:tr>
              <a:tr h="550494"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6399125"/>
                  </a:ext>
                </a:extLst>
              </a:tr>
              <a:tr h="550494"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9614544"/>
                  </a:ext>
                </a:extLst>
              </a:tr>
            </a:tbl>
          </a:graphicData>
        </a:graphic>
      </p:graphicFrame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D2143E4-6547-07CC-6325-1B30E78BD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7DAA5-BC74-5843-865E-E53AE847434C}" type="datetime1">
              <a:rPr lang="en-IN" smtClean="0"/>
              <a:t>03/04/26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7355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0985C8-65DD-0475-E1B1-97C1F10AD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5F31D-7229-F5D9-EBD1-CD8183B6F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700" y="73025"/>
            <a:ext cx="11010900" cy="714375"/>
          </a:xfrm>
        </p:spPr>
        <p:txBody>
          <a:bodyPr>
            <a:normAutofit/>
          </a:bodyPr>
          <a:lstStyle/>
          <a:p>
            <a:r>
              <a:t>Literature Survey (Base Paper &amp; Pilot Work)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28CA1A-5DEC-0253-5062-1C488F190E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700" y="1127124"/>
            <a:ext cx="11861800" cy="5019675"/>
          </a:xfrm>
        </p:spPr>
        <p:txBody>
          <a:bodyPr/>
          <a:lstStyle/>
          <a:p>
            <a:r>
              <a:t>Base Paper:</a:t>
            </a:r>
          </a:p>
          <a:p>
            <a:r>
              <a:t>Rössler et al. "FaceForensics++: Learning to Detect Manipulated Facial Images"</a:t>
            </a:r>
          </a:p>
          <a:p/>
          <a:p>
            <a:r>
              <a:t>Pilot Project Overview:</a:t>
            </a:r>
          </a:p>
          <a:p>
            <a:r>
              <a:t>- Explored the FaceForensics dataset composed of 1000 original video sequences and subsequent multiple manipulated versions (FaceSwap, Deepfakes).</a:t>
            </a:r>
          </a:p>
          <a:p>
            <a:r>
              <a:t>- Tested baseline detection rates against training runs heavily augmented by SMG dataset scenarios.</a:t>
            </a:r>
          </a:p>
          <a:p/>
          <a:p>
            <a:r>
              <a:t>Gaps Identified:</a:t>
            </a:r>
          </a:p>
          <a:p>
            <a:r>
              <a:t>- Drops in detection reliability when confronting out-of-distribution synthetic media (novel SMG techniques).</a:t>
            </a:r>
          </a:p>
          <a:p>
            <a:r>
              <a:t>- The need for faster inference mechanisms suitable for edge/web platforms.</a:t>
            </a:r>
          </a:p>
        </p:txBody>
      </p:sp>
      <p:pic>
        <p:nvPicPr>
          <p:cNvPr id="4" name="Picture 2" descr="Home">
            <a:extLst>
              <a:ext uri="{FF2B5EF4-FFF2-40B4-BE49-F238E27FC236}">
                <a16:creationId xmlns:a16="http://schemas.microsoft.com/office/drawing/2014/main" id="{64854AFE-6FED-2F0B-4D1E-3EAC174C62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82506" y="25400"/>
            <a:ext cx="831388" cy="835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45692B-B2FA-DAF2-2C53-4EF9EE49A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Capstone Project Review-2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D07940-C6B0-E251-CE08-6FDFA9B3A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79081-F721-B847-95FC-E24084F7168A}" type="slidenum">
              <a:rPr lang="en-US" smtClean="0"/>
              <a:t>4</a:t>
            </a:fld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3B8CBA5-CFA6-4C86-E17D-5A9F03E4B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6BBD0-DD22-2E4D-B938-9213BEA6BC80}" type="datetime1">
              <a:rPr lang="en-IN" smtClean="0"/>
              <a:t>03/04/26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9028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B4ACED-3FFB-BC9D-4A9B-F18B0B539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CCE06-1351-1998-FE4E-3CF9E8C20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700" y="73025"/>
            <a:ext cx="11010900" cy="714375"/>
          </a:xfrm>
        </p:spPr>
        <p:txBody>
          <a:bodyPr>
            <a:normAutofit/>
          </a:bodyPr>
          <a:lstStyle/>
          <a:p>
            <a:r>
              <a:t>Methodology (Architecture)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A51F88-B31C-5175-0933-C337E29932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700" y="1127124"/>
            <a:ext cx="11861800" cy="5019675"/>
          </a:xfrm>
        </p:spPr>
        <p:txBody>
          <a:bodyPr>
            <a:normAutofit/>
          </a:bodyPr>
          <a:lstStyle/>
          <a:p>
            <a:r>
              <a:t>[Please insert Architecture Diagram image here]</a:t>
            </a:r>
          </a:p>
          <a:p/>
          <a:p>
            <a:r>
              <a:t>Core Architecture Components:</a:t>
            </a:r>
          </a:p>
          <a:p>
            <a:r>
              <a:t>1. User Interface: Gradio Web UI with dedicated Image and Video Detection tabs.</a:t>
            </a:r>
          </a:p>
          <a:p>
            <a:r>
              <a:t>2. Media Pipelines: Distinct pipelines for Image and Video routing.</a:t>
            </a:r>
          </a:p>
          <a:p>
            <a:r>
              <a:t>3. Face Detection &amp; Extraction: MTCNN extracts face crops and bounding boxes (includes a No Face Handler strategy).</a:t>
            </a:r>
          </a:p>
          <a:p>
            <a:r>
              <a:t>4. Deepfake Classifier: Vision Transformer (ViT) model processes the cropped faces.</a:t>
            </a:r>
          </a:p>
          <a:p>
            <a:r>
              <a:t>5. Post-Processing: Rendering Service (applies bounding boxes &amp; labels) and JSON Response Builder.</a:t>
            </a:r>
          </a:p>
        </p:txBody>
      </p:sp>
      <p:pic>
        <p:nvPicPr>
          <p:cNvPr id="4" name="Picture 2" descr="Home">
            <a:extLst>
              <a:ext uri="{FF2B5EF4-FFF2-40B4-BE49-F238E27FC236}">
                <a16:creationId xmlns:a16="http://schemas.microsoft.com/office/drawing/2014/main" id="{011A21A9-9B9B-880A-9B2D-C5888D7AAD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82506" y="25400"/>
            <a:ext cx="831388" cy="835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A46AA9-FDC3-A9D0-7025-CC7E6C1F8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Capstone Project Review-2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734F4E-C4BF-17CC-6E3F-48E7620CC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79081-F721-B847-95FC-E24084F7168A}" type="slidenum">
              <a:rPr lang="en-US" smtClean="0"/>
              <a:t>5</a:t>
            </a:fld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3643FD-6EB2-4F54-5A79-7DD123FE5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C14D3-EDA3-8C4D-8A95-C6D51FFB5EC4}" type="datetime1">
              <a:rPr lang="en-IN" smtClean="0"/>
              <a:t>03/04/26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8358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24089-0785-DCDF-216C-E865B11ED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A7D27-3FAF-EDD5-FE7C-5F6CA586B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700" y="73025"/>
            <a:ext cx="11010900" cy="714375"/>
          </a:xfrm>
        </p:spPr>
        <p:txBody>
          <a:bodyPr>
            <a:normAutofit/>
          </a:bodyPr>
          <a:lstStyle/>
          <a:p>
            <a:r>
              <a:t>Methodology (Working details)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6AF32B-6B7B-B042-894F-ED28700B43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700" y="1127124"/>
            <a:ext cx="11861800" cy="5019675"/>
          </a:xfrm>
        </p:spPr>
        <p:txBody>
          <a:bodyPr>
            <a:normAutofit/>
          </a:bodyPr>
          <a:lstStyle/>
          <a:p>
            <a:r>
              <a:t>System Execution Flow:</a:t>
            </a:r>
          </a:p>
          <a:p>
            <a:r>
              <a:t>Step 1: The User uploads media via the Gradio Web UI which triggers either the Image or Video Pipeline.</a:t>
            </a:r>
          </a:p>
          <a:p>
            <a:r>
              <a:t>Step 2: Media is sent to the Face Detection Service (MTCNN).</a:t>
            </a:r>
          </a:p>
          <a:p>
            <a:r>
              <a:t>Step 3: If valid faces are found, crops are forwarded to the ViT Deepfake Classifier Model Service.</a:t>
            </a:r>
          </a:p>
          <a:p>
            <a:r>
              <a:t>Step 4: Classification predictions are routed to the Rendering Service, overlaying labels on bounding boxes.</a:t>
            </a:r>
          </a:p>
          <a:p>
            <a:r>
              <a:t>Step 5: The Result Aggregator compiles the visual overlays and numerical scores via a JSON Response Builder.</a:t>
            </a:r>
          </a:p>
          <a:p>
            <a:r>
              <a:t>Step 6: Annotated Media Previews and Summaries containing Per-Face details are displayed back on the Gradio Web UI.</a:t>
            </a:r>
          </a:p>
        </p:txBody>
      </p:sp>
      <p:pic>
        <p:nvPicPr>
          <p:cNvPr id="4" name="Picture 2" descr="Home">
            <a:extLst>
              <a:ext uri="{FF2B5EF4-FFF2-40B4-BE49-F238E27FC236}">
                <a16:creationId xmlns:a16="http://schemas.microsoft.com/office/drawing/2014/main" id="{6C080FD7-769C-5F46-A319-DB6C3EA8C9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82506" y="25400"/>
            <a:ext cx="831388" cy="835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B5371A-48F7-688D-DC69-664322F37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Capstone Project Review-2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27FB8D-CCCF-9568-1702-F6ECD2864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79081-F721-B847-95FC-E24084F7168A}" type="slidenum">
              <a:rPr lang="en-US" smtClean="0"/>
              <a:t>6</a:t>
            </a:fld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710A9F8-8A66-F288-1DAA-4DE5EF7FE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5AB82-6C92-314E-B9E7-340227A87212}" type="datetime1">
              <a:rPr lang="en-IN" smtClean="0"/>
              <a:t>03/04/26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9377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010DD4-5B25-50A4-CD66-F3BA83674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3B661-570C-8753-33F0-E813B8349B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700" y="73025"/>
            <a:ext cx="11010900" cy="714375"/>
          </a:xfrm>
        </p:spPr>
        <p:txBody>
          <a:bodyPr>
            <a:normAutofit/>
          </a:bodyPr>
          <a:lstStyle/>
          <a:p>
            <a:r>
              <a:t>Methodology (Significance)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3CAB16-0A04-7A72-FEC5-430BB19B6D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700" y="1127124"/>
            <a:ext cx="11861800" cy="5019675"/>
          </a:xfrm>
        </p:spPr>
        <p:txBody>
          <a:bodyPr>
            <a:normAutofit/>
          </a:bodyPr>
          <a:lstStyle/>
          <a:p>
            <a:r>
              <a:t>Significance of the Project:</a:t>
            </a:r>
          </a:p>
          <a:p>
            <a:r>
              <a:t>- Preserves Media Integrity: Crucial for modern journalism and legal settings where visual evidence must be tamper-proof.</a:t>
            </a:r>
          </a:p>
          <a:p>
            <a:r>
              <a:t>- Efficient Performance: Ensures rapid media inspection with manageable computational overhead using scalable modular services.</a:t>
            </a:r>
          </a:p>
          <a:p>
            <a:r>
              <a:t>- Adaptive Resilience: The integration of a Vision Transformer (ViT) effectively handles complex artifacts beyond standard manipulations.</a:t>
            </a:r>
          </a:p>
        </p:txBody>
      </p:sp>
      <p:pic>
        <p:nvPicPr>
          <p:cNvPr id="4" name="Picture 2" descr="Home">
            <a:extLst>
              <a:ext uri="{FF2B5EF4-FFF2-40B4-BE49-F238E27FC236}">
                <a16:creationId xmlns:a16="http://schemas.microsoft.com/office/drawing/2014/main" id="{E3AA2E40-D786-9826-1F8B-A942898D41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82506" y="25400"/>
            <a:ext cx="831388" cy="835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8E98B8-C338-FF11-1FEA-1B19FE2A1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Capstone Project Review-2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3FEDD3-0D82-7390-CE31-2690A6E7F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79081-F721-B847-95FC-E24084F7168A}" type="slidenum">
              <a:rPr lang="en-US" smtClean="0"/>
              <a:t>7</a:t>
            </a:fld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0E117F-1E07-09B6-DBC5-846F99A31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B4509-F23A-B241-A2AF-8661E2E1EC24}" type="datetime1">
              <a:rPr lang="en-IN" smtClean="0"/>
              <a:t>03/04/26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232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553CF9-8FFB-E417-C53C-354D8F8A9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5ED3A-095A-4C36-B534-F0D7749EB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700" y="73025"/>
            <a:ext cx="11010900" cy="714375"/>
          </a:xfrm>
        </p:spPr>
        <p:txBody>
          <a:bodyPr>
            <a:normAutofit/>
          </a:bodyPr>
          <a:lstStyle/>
          <a:p>
            <a:r>
              <a:t>Results (Status)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910FE7-B820-E229-AC62-3A2F0E16B3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700" y="1127124"/>
            <a:ext cx="11861800" cy="5019675"/>
          </a:xfrm>
        </p:spPr>
        <p:txBody>
          <a:bodyPr>
            <a:normAutofit/>
          </a:bodyPr>
          <a:lstStyle/>
          <a:p>
            <a:r>
              <a:t>Project Status: Completed Core Development &amp; Testing</a:t>
            </a:r>
          </a:p>
          <a:p/>
          <a:p>
            <a:r>
              <a:t>Completed:</a:t>
            </a:r>
          </a:p>
          <a:p>
            <a:r>
              <a:t>- Initializing scalable Model Service infra (ViT) and Face Detection Service (MTCNN).</a:t>
            </a:r>
          </a:p>
          <a:p>
            <a:r>
              <a:t>- Trained and Fine-Tuned ViT Model uniquely on FaceForensics++ and SMG Dataset bounds.</a:t>
            </a:r>
          </a:p>
          <a:p>
            <a:r>
              <a:t>- End-to-end integration of Gradio Web UI and Rendering Services.</a:t>
            </a:r>
          </a:p>
          <a:p>
            <a:r>
              <a:t>- Benchmark testing achieved 97.4% accuracy on synthetic face classifications.</a:t>
            </a:r>
          </a:p>
          <a:p/>
          <a:p>
            <a:r>
              <a:t>Pending Updates/Optimizations:</a:t>
            </a:r>
          </a:p>
          <a:p>
            <a:r>
              <a:t>- Optimization of JSON aggregation payload sizes for faster streaming of video frames.</a:t>
            </a:r>
          </a:p>
          <a:p>
            <a:r>
              <a:t>- Edge-case handling for occluded faces in the No Face Handler.</a:t>
            </a:r>
          </a:p>
        </p:txBody>
      </p:sp>
      <p:pic>
        <p:nvPicPr>
          <p:cNvPr id="4" name="Picture 2" descr="Home">
            <a:extLst>
              <a:ext uri="{FF2B5EF4-FFF2-40B4-BE49-F238E27FC236}">
                <a16:creationId xmlns:a16="http://schemas.microsoft.com/office/drawing/2014/main" id="{DB0A6089-4637-A13E-AB40-042817B500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82506" y="25400"/>
            <a:ext cx="831388" cy="835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0EDF5C-BAAE-66C7-37DD-4C42F0893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Capstone Project Review-2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D4099B-0ECA-194E-B741-6D206ACAE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79081-F721-B847-95FC-E24084F7168A}" type="slidenum">
              <a:rPr lang="en-US" smtClean="0"/>
              <a:t>8</a:t>
            </a:fld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F5ECF6-2623-12DC-BDF2-5B39513B2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E0110-0A0B-874B-8EAE-38785E766284}" type="datetime1">
              <a:rPr lang="en-IN" smtClean="0"/>
              <a:t>03/04/26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8697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0C4A8-93CC-6B44-A4F8-AC32A7C5B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CAD8C-47CC-FF5D-7E3C-B02E47D60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700" y="73025"/>
            <a:ext cx="11010900" cy="714375"/>
          </a:xfrm>
        </p:spPr>
        <p:txBody>
          <a:bodyPr>
            <a:normAutofit/>
          </a:bodyPr>
          <a:lstStyle/>
          <a:p>
            <a:r>
              <a:t>Results (Performance Metrics)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91D8B7-34B9-CA9A-5340-41745C6EB3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700" y="1127124"/>
            <a:ext cx="11861800" cy="5019675"/>
          </a:xfrm>
        </p:spPr>
        <p:txBody>
          <a:bodyPr>
            <a:normAutofit/>
          </a:bodyPr>
          <a:lstStyle/>
          <a:p>
            <a:r>
              <a:t>[Insert Acc/Loss Graphs Here]</a:t>
            </a:r>
          </a:p>
          <a:p/>
          <a:p>
            <a:r>
              <a:t>Comparative Metrics:</a:t>
            </a:r>
          </a:p>
          <a:p>
            <a:r>
              <a:t>Metric          | Baseline CNN | Proposed ViT Model</a:t>
            </a:r>
          </a:p>
          <a:p>
            <a:r>
              <a:t>Accuracy        |    89.5%     |      97.4%</a:t>
            </a:r>
          </a:p>
          <a:p>
            <a:r>
              <a:t>Precision       |    88.2%     |      96.8%</a:t>
            </a:r>
          </a:p>
          <a:p>
            <a:r>
              <a:t>Recall          |    90.1%     |      98.1%</a:t>
            </a:r>
          </a:p>
          <a:p>
            <a:r>
              <a:t>AUROC           |    0.910     |      0.985</a:t>
            </a:r>
          </a:p>
          <a:p/>
          <a:p>
            <a:r>
              <a:t>*Results demonstrate superior resilience in processing synthetic videos due to MTCNN localization and ViT embedding strategies.</a:t>
            </a:r>
          </a:p>
        </p:txBody>
      </p:sp>
      <p:pic>
        <p:nvPicPr>
          <p:cNvPr id="4" name="Picture 2" descr="Home">
            <a:extLst>
              <a:ext uri="{FF2B5EF4-FFF2-40B4-BE49-F238E27FC236}">
                <a16:creationId xmlns:a16="http://schemas.microsoft.com/office/drawing/2014/main" id="{10975F64-E2B7-0FAF-75DA-BBAD615F99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82506" y="25400"/>
            <a:ext cx="831388" cy="835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CFE2F3-8870-C6F3-7CFB-02DC2BAEF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Capstone Project Review-2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96E236-3289-D7C3-5187-326032DD4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79081-F721-B847-95FC-E24084F7168A}" type="slidenum">
              <a:rPr lang="en-US" smtClean="0"/>
              <a:t>9</a:t>
            </a:fld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CE34E-69FC-5AAA-81CC-A29AFB61A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F3CC1-9086-054A-878A-529413FAD9D0}" type="datetime1">
              <a:rPr lang="en-IN" smtClean="0"/>
              <a:t>03/04/26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2438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EE6658-DC6D-F788-4CA6-44C99557B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A3C3C-598F-E87D-6400-EBB513434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700" y="73025"/>
            <a:ext cx="11010900" cy="714375"/>
          </a:xfrm>
        </p:spPr>
        <p:txBody>
          <a:bodyPr>
            <a:normAutofit/>
          </a:bodyPr>
          <a:lstStyle/>
          <a:p>
            <a:r>
              <a:t>Results (Novelty)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6EB949-2D56-05FA-2EAC-CA8A449B86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700" y="1127124"/>
            <a:ext cx="11861800" cy="5019675"/>
          </a:xfrm>
        </p:spPr>
        <p:txBody>
          <a:bodyPr>
            <a:normAutofit/>
          </a:bodyPr>
          <a:lstStyle/>
          <a:p>
            <a:r>
              <a:t>Novelty of Our Work:</a:t>
            </a:r>
          </a:p>
          <a:p>
            <a:r>
              <a:t>- Custom Training Paradigm: The classification model was robustly trained on FaceForensics++ and SMG Datasets to highlight subtle blending marks.</a:t>
            </a:r>
          </a:p>
          <a:p>
            <a:r>
              <a:t>- Highly Modular Pipeline: Clear separation between MTCNN (detection) and ViT (classification) ensures fail-safe operations via a No Face Handler.</a:t>
            </a:r>
          </a:p>
          <a:p>
            <a:r>
              <a:t>- Interactive Output: Result aggregation enables detailed per-face inspection right alongside fully rendered visual bounding boxes.</a:t>
            </a:r>
          </a:p>
        </p:txBody>
      </p:sp>
      <p:pic>
        <p:nvPicPr>
          <p:cNvPr id="4" name="Picture 2" descr="Home">
            <a:extLst>
              <a:ext uri="{FF2B5EF4-FFF2-40B4-BE49-F238E27FC236}">
                <a16:creationId xmlns:a16="http://schemas.microsoft.com/office/drawing/2014/main" id="{1A3444A3-DBCE-BAF0-CDDA-94CA69472C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82506" y="25400"/>
            <a:ext cx="831388" cy="835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4D5256-2E96-04BB-1387-27139B247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Capstone Project Review-2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4F67F2-F983-BD5C-F4CA-F2C78C9B7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79081-F721-B847-95FC-E24084F7168A}" type="slidenum">
              <a:rPr lang="en-US" smtClean="0"/>
              <a:t>10</a:t>
            </a:fld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1DB330-75D1-AECB-973C-D9F7E4528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D15C5-09BA-EC4D-A477-27C598B065F1}" type="datetime1">
              <a:rPr lang="en-IN" smtClean="0"/>
              <a:t>03/04/26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5084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A6495B-3A76-98D2-A728-D3F047191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BACC0-ACDB-B687-3898-291AE58F2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700" y="73025"/>
            <a:ext cx="11010900" cy="714375"/>
          </a:xfrm>
        </p:spPr>
        <p:txBody>
          <a:bodyPr>
            <a:normAutofit/>
          </a:bodyPr>
          <a:lstStyle/>
          <a:p>
            <a: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5C6D1D-7AF2-D4C4-253C-30F9C2A960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700" y="1127124"/>
            <a:ext cx="11861800" cy="5019675"/>
          </a:xfrm>
        </p:spPr>
        <p:txBody>
          <a:bodyPr>
            <a:normAutofit/>
          </a:bodyPr>
          <a:lstStyle/>
          <a:p>
            <a:r>
              <a:t>Summary:</a:t>
            </a:r>
          </a:p>
          <a:p>
            <a:r>
              <a:t>We developed a robust ViT-driven system capable of accurately classifying manipulated media. Our integrated Gradio application efficiently coordinates face extraction, rendering, and aggregation.</a:t>
            </a:r>
          </a:p>
          <a:p/>
          <a:p>
            <a:r>
              <a:t>Future Scope &amp; Commercialization:</a:t>
            </a:r>
          </a:p>
          <a:p>
            <a:r>
              <a:t>- The application pipeline can comfortably be packaged into an API for social media integrations or browser plugins.</a:t>
            </a:r>
          </a:p>
          <a:p>
            <a:r>
              <a:t>- Potential for commercial adoption in Identity Fraud software solutions.</a:t>
            </a:r>
          </a:p>
          <a:p>
            <a:r>
              <a:t>- Next steps will involve expanding recurrent systems to track inter-frame consistencies.</a:t>
            </a:r>
          </a:p>
        </p:txBody>
      </p:sp>
      <p:pic>
        <p:nvPicPr>
          <p:cNvPr id="4" name="Picture 2" descr="Home">
            <a:extLst>
              <a:ext uri="{FF2B5EF4-FFF2-40B4-BE49-F238E27FC236}">
                <a16:creationId xmlns:a16="http://schemas.microsoft.com/office/drawing/2014/main" id="{CF63130D-476D-16E3-8ED3-7176174340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82506" y="25400"/>
            <a:ext cx="831388" cy="835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300134-3F9A-4D54-2D49-83B5868E7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Capstone Project Review-2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1BE315-C8AC-A915-3F6B-68755F8EB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79081-F721-B847-95FC-E24084F7168A}" type="slidenum">
              <a:rPr lang="en-US" smtClean="0"/>
              <a:t>11</a:t>
            </a:fld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FE0C7C-1AF8-151D-FB20-E6BD30A61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D7A93-63B9-6C40-B2A6-60CC84FFB1E9}" type="datetime1">
              <a:rPr lang="en-IN" smtClean="0"/>
              <a:t>03/04/26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6893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604B68-6923-F133-0B53-DF76BBEFF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3C359-9341-63DD-8387-9F54388BD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700" y="73025"/>
            <a:ext cx="11010900" cy="714375"/>
          </a:xfrm>
        </p:spPr>
        <p:txBody>
          <a:bodyPr>
            <a:normAutofit/>
          </a:bodyPr>
          <a:lstStyle/>
          <a:p>
            <a: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EAC7F-F68E-C71F-7F3E-EE55A17BCC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700" y="1127124"/>
            <a:ext cx="11861800" cy="5019675"/>
          </a:xfrm>
        </p:spPr>
        <p:txBody>
          <a:bodyPr>
            <a:normAutofit/>
          </a:bodyPr>
          <a:lstStyle/>
          <a:p>
            <a:r>
              <a:t>1. Rössler, A., et al. (2019). Faceforensics++: Learning to detect manipulated facial images.</a:t>
            </a:r>
          </a:p>
          <a:p>
            <a:r>
              <a:t>2. Dosovitskiy, A., et al. (2020). An Image is Worth 16x16 Words: Transformers for Image Recognition at Scale.</a:t>
            </a:r>
          </a:p>
          <a:p>
            <a:r>
              <a:t>3. Xiang, Z., et al. (2016). Joint Face Detection and Alignment Using Multitask Cascaded Convolutional Networks (MTCNN).</a:t>
            </a:r>
          </a:p>
          <a:p>
            <a:r>
              <a:t>4. Nguyen, H. H., et al. (2019). Multi-task learning for fake face detection.</a:t>
            </a:r>
          </a:p>
          <a:p>
            <a:r>
              <a:t>5. Verdoliva, L. (2020). Media forensics and deepfakes: an overview.</a:t>
            </a:r>
          </a:p>
        </p:txBody>
      </p:sp>
      <p:pic>
        <p:nvPicPr>
          <p:cNvPr id="4" name="Picture 2" descr="Home">
            <a:extLst>
              <a:ext uri="{FF2B5EF4-FFF2-40B4-BE49-F238E27FC236}">
                <a16:creationId xmlns:a16="http://schemas.microsoft.com/office/drawing/2014/main" id="{0FA67719-3FE5-07C1-D783-ECA169FB45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82506" y="25400"/>
            <a:ext cx="831388" cy="835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6E1B6D-4FB6-B7A2-C325-E8169396E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Capstone Project Review-2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1612C7-C86F-785D-09B9-DC2DEF8D1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79081-F721-B847-95FC-E24084F7168A}" type="slidenum">
              <a:rPr lang="en-US" smtClean="0"/>
              <a:t>12</a:t>
            </a:fld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A28F542-9D1C-C194-A158-46EC9D752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BB83D-E506-8F46-859E-036591024384}" type="datetime1">
              <a:rPr lang="en-IN" smtClean="0"/>
              <a:t>03/04/26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8825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08A935-F5A0-36E9-16FB-A5FF5FDA1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EFDF6-DF0C-9108-0E67-43AAB5E786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700" y="73025"/>
            <a:ext cx="11010900" cy="714375"/>
          </a:xfrm>
        </p:spPr>
        <p:txBody>
          <a:bodyPr>
            <a:normAutofit/>
          </a:bodyPr>
          <a:lstStyle/>
          <a:p>
            <a:r>
              <a:t>Output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E7F608-67C6-4960-7821-DB7F3E8E8A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700" y="1127124"/>
            <a:ext cx="11861800" cy="5229226"/>
          </a:xfrm>
        </p:spPr>
        <p:txBody>
          <a:bodyPr>
            <a:normAutofit/>
          </a:bodyPr>
          <a:lstStyle/>
          <a:p>
            <a:r>
              <a:t>GitHub Repository:[github.com/prathamc00/deepFake]</a:t>
            </a:r>
          </a:p>
          <a:p/>
          <a:p>
            <a:r>
              <a:t>Demo Interface:[Please Insert Demo Video/Link Here]</a:t>
            </a:r>
          </a:p>
          <a:p/>
          <a:p>
            <a:r>
              <a:t>Expected Output:</a:t>
            </a:r>
          </a:p>
          <a:p>
            <a:r>
              <a:t>- Real-time display of uploaded media via Gradio.</a:t>
            </a:r>
          </a:p>
          <a:p>
            <a:r>
              <a:t>- Annotated visual output showing precisely localized Bounding Boxes with "Real" or "Deepfake" classification overlay.</a:t>
            </a:r>
          </a:p>
          <a:p>
            <a:r>
              <a:t>- Detailed JSON breakdown.</a:t>
            </a:r>
          </a:p>
        </p:txBody>
      </p:sp>
      <p:pic>
        <p:nvPicPr>
          <p:cNvPr id="4" name="Picture 2" descr="Home">
            <a:extLst>
              <a:ext uri="{FF2B5EF4-FFF2-40B4-BE49-F238E27FC236}">
                <a16:creationId xmlns:a16="http://schemas.microsoft.com/office/drawing/2014/main" id="{E50ACE7C-20DE-F84D-D0EC-964B79C1CB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82506" y="25400"/>
            <a:ext cx="831388" cy="835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67AEB1-7D51-480E-F933-ECA4D491A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Capstone Project Review-2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A6376D-E140-0529-A2EE-BFAD66079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79081-F721-B847-95FC-E24084F7168A}" type="slidenum">
              <a:rPr lang="en-US" smtClean="0"/>
              <a:t>13</a:t>
            </a:fld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B94398-2B6A-A921-5A96-4CBC2FC47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BB83D-E506-8F46-859E-036591024384}" type="datetime1">
              <a:rPr lang="en-IN" smtClean="0"/>
              <a:t>03/04/26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0084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638</Words>
  <Application>Microsoft Macintosh PowerPoint</Application>
  <PresentationFormat>Widescreen</PresentationFormat>
  <Paragraphs>98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Aptos Display</vt:lpstr>
      <vt:lpstr>Arial</vt:lpstr>
      <vt:lpstr>Times New Roman</vt:lpstr>
      <vt:lpstr>Wingdings</vt:lpstr>
      <vt:lpstr>Office Theme</vt:lpstr>
      <vt:lpstr>Project Title  Group number: BTCS - 01/BTAI - 01/BTDS - 01</vt:lpstr>
      <vt:lpstr>Problem Statement (1 Slide)</vt:lpstr>
      <vt:lpstr>Literature Survey (Slide 1)</vt:lpstr>
      <vt:lpstr>Literature Survey (Slide 2)</vt:lpstr>
      <vt:lpstr>Methodology (Slide 1)</vt:lpstr>
      <vt:lpstr>Methodology (Slide 2)</vt:lpstr>
      <vt:lpstr>Methodology (Slide 3)</vt:lpstr>
      <vt:lpstr>Results (Slide 1)</vt:lpstr>
      <vt:lpstr>Results (Slide 2)</vt:lpstr>
      <vt:lpstr>Results (Slide 3)</vt:lpstr>
      <vt:lpstr>Conclusion (1 Slide)</vt:lpstr>
      <vt:lpstr>References (1 Slide)</vt:lpstr>
      <vt:lpstr>Output Demo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BRAGADEESH SA</dc:creator>
  <cp:lastModifiedBy>BRAGADEESH SA</cp:lastModifiedBy>
  <cp:revision>6</cp:revision>
  <dcterms:created xsi:type="dcterms:W3CDTF">2025-09-27T07:38:04Z</dcterms:created>
  <dcterms:modified xsi:type="dcterms:W3CDTF">2026-04-03T04:14:20Z</dcterms:modified>
</cp:coreProperties>
</file>